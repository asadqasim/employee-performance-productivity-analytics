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9" r:id="rId2"/>
    <p:sldId id="270" r:id="rId3"/>
    <p:sldId id="261" r:id="rId4"/>
    <p:sldId id="276" r:id="rId5"/>
    <p:sldId id="277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78" r:id="rId16"/>
    <p:sldId id="279" r:id="rId17"/>
    <p:sldId id="282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Company study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Dataset creation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 preprocessing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F1A4C139-BB1B-BA45-AE77-790CFCF42278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/>
            <a:t>Domain understanding</a:t>
          </a:r>
        </a:p>
      </dgm:t>
    </dgm:pt>
    <dgm:pt modelId="{72F3CFB1-BC3B-FE4E-82CD-702DFFF9887A}" type="parTrans" cxnId="{D0DF55E7-6A2D-934D-B0A3-4414843996A1}">
      <dgm:prSet/>
      <dgm:spPr/>
      <dgm:t>
        <a:bodyPr/>
        <a:lstStyle/>
        <a:p>
          <a:endParaRPr lang="en-US"/>
        </a:p>
      </dgm:t>
    </dgm:pt>
    <dgm:pt modelId="{EA74E6CA-80AB-AF42-9E02-665C8551B3F1}" type="sibTrans" cxnId="{D0DF55E7-6A2D-934D-B0A3-4414843996A1}">
      <dgm:prSet/>
      <dgm:spPr/>
      <dgm:t>
        <a:bodyPr/>
        <a:lstStyle/>
        <a:p>
          <a:endParaRPr lang="en-US"/>
        </a:p>
      </dgm:t>
    </dgm:pt>
    <dgm:pt modelId="{FB9E0BC9-6BC6-6B4C-BECE-FD129F201D9A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/>
            <a:t>Problem identification</a:t>
          </a:r>
        </a:p>
      </dgm:t>
    </dgm:pt>
    <dgm:pt modelId="{9786550D-B082-D443-895D-0B2D90094E78}" type="parTrans" cxnId="{331B7315-7122-BD40-BEE4-D3A8306926AE}">
      <dgm:prSet/>
      <dgm:spPr/>
      <dgm:t>
        <a:bodyPr/>
        <a:lstStyle/>
        <a:p>
          <a:endParaRPr lang="en-US"/>
        </a:p>
      </dgm:t>
    </dgm:pt>
    <dgm:pt modelId="{38277091-46E0-7844-A69C-6E8CE92303AB}" type="sibTrans" cxnId="{331B7315-7122-BD40-BEE4-D3A8306926AE}">
      <dgm:prSet/>
      <dgm:spPr/>
      <dgm:t>
        <a:bodyPr/>
        <a:lstStyle/>
        <a:p>
          <a:endParaRPr lang="en-US"/>
        </a:p>
      </dgm:t>
    </dgm:pt>
    <dgm:pt modelId="{AA0420A7-2D3F-6342-A567-4997DACA5DA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dirty="0"/>
            <a:t>Objective formulation</a:t>
          </a:r>
        </a:p>
      </dgm:t>
    </dgm:pt>
    <dgm:pt modelId="{FDB4F5F9-2BAD-A640-8FB9-46A8F9D8ACC0}" type="parTrans" cxnId="{7DD5A7E9-FB51-DC4C-A0DC-9496F007E2A1}">
      <dgm:prSet/>
      <dgm:spPr/>
      <dgm:t>
        <a:bodyPr/>
        <a:lstStyle/>
        <a:p>
          <a:endParaRPr lang="en-US"/>
        </a:p>
      </dgm:t>
    </dgm:pt>
    <dgm:pt modelId="{4726513A-832C-2D41-87BE-A58D51D1DB3C}" type="sibTrans" cxnId="{7DD5A7E9-FB51-DC4C-A0DC-9496F007E2A1}">
      <dgm:prSet/>
      <dgm:spPr/>
      <dgm:t>
        <a:bodyPr/>
        <a:lstStyle/>
        <a:p>
          <a:endParaRPr lang="en-US"/>
        </a:p>
      </dgm:t>
    </dgm:pt>
    <dgm:pt modelId="{7DC6E324-AD8D-A944-A935-CCDEA98BC95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Literature review</a:t>
          </a:r>
        </a:p>
      </dgm:t>
    </dgm:pt>
    <dgm:pt modelId="{C560FA20-F19D-264B-A90D-C2AF16646049}" type="parTrans" cxnId="{6466584B-5EEF-0942-A27F-FAF2905B4E97}">
      <dgm:prSet/>
      <dgm:spPr/>
      <dgm:t>
        <a:bodyPr/>
        <a:lstStyle/>
        <a:p>
          <a:endParaRPr lang="en-US"/>
        </a:p>
      </dgm:t>
    </dgm:pt>
    <dgm:pt modelId="{81C8F18F-4289-564E-8F26-3E2BD0CB4B6E}" type="sibTrans" cxnId="{6466584B-5EEF-0942-A27F-FAF2905B4E97}">
      <dgm:prSet/>
      <dgm:spPr/>
      <dgm:t>
        <a:bodyPr/>
        <a:lstStyle/>
        <a:p>
          <a:endParaRPr lang="en-US"/>
        </a:p>
      </dgm:t>
    </dgm:pt>
    <dgm:pt modelId="{13474406-C6F5-3C4C-A049-E2650D606B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System design</a:t>
          </a:r>
        </a:p>
      </dgm:t>
    </dgm:pt>
    <dgm:pt modelId="{CCB0EA3C-0861-2A41-BE17-1FB4D3671A2F}" type="parTrans" cxnId="{AB555EEE-CE61-314F-9D2A-611A286710D7}">
      <dgm:prSet/>
      <dgm:spPr/>
      <dgm:t>
        <a:bodyPr/>
        <a:lstStyle/>
        <a:p>
          <a:endParaRPr lang="en-US"/>
        </a:p>
      </dgm:t>
    </dgm:pt>
    <dgm:pt modelId="{DF8BA803-FA95-4C42-A052-EE017C5BF252}" type="sibTrans" cxnId="{AB555EEE-CE61-314F-9D2A-611A286710D7}">
      <dgm:prSet/>
      <dgm:spPr/>
      <dgm:t>
        <a:bodyPr/>
        <a:lstStyle/>
        <a:p>
          <a:endParaRPr lang="en-US"/>
        </a:p>
      </dgm:t>
    </dgm:pt>
    <dgm:pt modelId="{36B6DCC8-B2AB-6148-87E3-40D3528A2D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Architecture planning</a:t>
          </a:r>
        </a:p>
      </dgm:t>
    </dgm:pt>
    <dgm:pt modelId="{9E613416-940B-A842-A54E-25948F64BBCD}" type="parTrans" cxnId="{B4208D41-5C1E-3C4B-B1B6-88F4027D169D}">
      <dgm:prSet/>
      <dgm:spPr/>
      <dgm:t>
        <a:bodyPr/>
        <a:lstStyle/>
        <a:p>
          <a:endParaRPr lang="en-US"/>
        </a:p>
      </dgm:t>
    </dgm:pt>
    <dgm:pt modelId="{CB628299-8B17-4943-A239-F0E7538F82C0}" type="sibTrans" cxnId="{B4208D41-5C1E-3C4B-B1B6-88F4027D169D}">
      <dgm:prSet/>
      <dgm:spPr/>
      <dgm:t>
        <a:bodyPr/>
        <a:lstStyle/>
        <a:p>
          <a:endParaRPr lang="en-US"/>
        </a:p>
      </dgm:t>
    </dgm:pt>
    <dgm:pt modelId="{5E2C240B-3F63-D94E-9C0A-9FF5F20A513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Feasibility study</a:t>
          </a:r>
        </a:p>
      </dgm:t>
    </dgm:pt>
    <dgm:pt modelId="{08D94604-A416-1C47-B534-6875632E5E35}" type="parTrans" cxnId="{F7CB01E3-6671-8145-99EB-CC94C6EEBF6B}">
      <dgm:prSet/>
      <dgm:spPr/>
      <dgm:t>
        <a:bodyPr/>
        <a:lstStyle/>
        <a:p>
          <a:endParaRPr lang="en-US"/>
        </a:p>
      </dgm:t>
    </dgm:pt>
    <dgm:pt modelId="{0B47A690-4CD8-BB49-B3C9-1DDC2A0EF5BE}" type="sibTrans" cxnId="{F7CB01E3-6671-8145-99EB-CC94C6EEBF6B}">
      <dgm:prSet/>
      <dgm:spPr/>
      <dgm:t>
        <a:bodyPr/>
        <a:lstStyle/>
        <a:p>
          <a:endParaRPr lang="en-US"/>
        </a:p>
      </dgm:t>
    </dgm:pt>
    <dgm:pt modelId="{5314F8FE-CAB2-3245-9A80-CD185322457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Exploratory Data Analysis (EDA)</a:t>
          </a:r>
        </a:p>
      </dgm:t>
    </dgm:pt>
    <dgm:pt modelId="{772C95FF-BC66-FB42-98EC-54D70844CFB4}" type="parTrans" cxnId="{F3C465AB-FF6E-A346-83CA-65DC29B93219}">
      <dgm:prSet/>
      <dgm:spPr/>
      <dgm:t>
        <a:bodyPr/>
        <a:lstStyle/>
        <a:p>
          <a:endParaRPr lang="en-US"/>
        </a:p>
      </dgm:t>
    </dgm:pt>
    <dgm:pt modelId="{D6ACE659-50FD-1F42-BD4A-D25D73203FDE}" type="sibTrans" cxnId="{F3C465AB-FF6E-A346-83CA-65DC29B93219}">
      <dgm:prSet/>
      <dgm:spPr/>
      <dgm:t>
        <a:bodyPr/>
        <a:lstStyle/>
        <a:p>
          <a:endParaRPr lang="en-US"/>
        </a:p>
      </dgm:t>
    </dgm:pt>
    <dgm:pt modelId="{3A61AC52-53C6-F845-8B26-385022A5FB4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Initial machine learning model implementation (50%)</a:t>
          </a:r>
        </a:p>
      </dgm:t>
    </dgm:pt>
    <dgm:pt modelId="{EED4E55D-3A7D-5B40-BD59-C665B492B239}" type="parTrans" cxnId="{ADF636BC-8437-7B40-8DBA-28D8CD61D155}">
      <dgm:prSet/>
      <dgm:spPr/>
      <dgm:t>
        <a:bodyPr/>
        <a:lstStyle/>
        <a:p>
          <a:endParaRPr lang="en-US"/>
        </a:p>
      </dgm:t>
    </dgm:pt>
    <dgm:pt modelId="{CFC4D8E3-7896-8644-8860-5643ACB31EF1}" type="sibTrans" cxnId="{ADF636BC-8437-7B40-8DBA-28D8CD61D155}">
      <dgm:prSet/>
      <dgm:spPr/>
      <dgm:t>
        <a:bodyPr/>
        <a:lstStyle/>
        <a:p>
          <a:endParaRPr lang="en-US"/>
        </a:p>
      </dgm:t>
    </dgm:pt>
    <dgm:pt modelId="{8AF8E256-D216-204E-B2FD-C42D3583DA8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Complete machine learning model</a:t>
          </a:r>
        </a:p>
      </dgm:t>
    </dgm:pt>
    <dgm:pt modelId="{C633FBF9-73A6-884F-8BC7-4D044B0C89CB}" type="parTrans" cxnId="{21C1B91F-22D3-844D-9F02-0C61FFD273E9}">
      <dgm:prSet/>
      <dgm:spPr/>
      <dgm:t>
        <a:bodyPr/>
        <a:lstStyle/>
        <a:p>
          <a:endParaRPr lang="en-US"/>
        </a:p>
      </dgm:t>
    </dgm:pt>
    <dgm:pt modelId="{6597BBBE-C453-FF42-BFB9-DB36B11D581A}" type="sibTrans" cxnId="{21C1B91F-22D3-844D-9F02-0C61FFD273E9}">
      <dgm:prSet/>
      <dgm:spPr/>
      <dgm:t>
        <a:bodyPr/>
        <a:lstStyle/>
        <a:p>
          <a:endParaRPr lang="en-US"/>
        </a:p>
      </dgm:t>
    </dgm:pt>
    <dgm:pt modelId="{7CD9C2DF-E506-CE47-81AF-1468ABA0F73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Visualization dashboard</a:t>
          </a:r>
        </a:p>
      </dgm:t>
    </dgm:pt>
    <dgm:pt modelId="{D2229199-D333-1442-8D98-5259122176D1}" type="parTrans" cxnId="{DD805E88-C1AD-C846-9A03-AF2F6FA2AD13}">
      <dgm:prSet/>
      <dgm:spPr/>
      <dgm:t>
        <a:bodyPr/>
        <a:lstStyle/>
        <a:p>
          <a:endParaRPr lang="en-US"/>
        </a:p>
      </dgm:t>
    </dgm:pt>
    <dgm:pt modelId="{C74CCCB1-7971-134C-96EF-503D4555F178}" type="sibTrans" cxnId="{DD805E88-C1AD-C846-9A03-AF2F6FA2AD13}">
      <dgm:prSet/>
      <dgm:spPr/>
      <dgm:t>
        <a:bodyPr/>
        <a:lstStyle/>
        <a:p>
          <a:endParaRPr lang="en-US"/>
        </a:p>
      </dgm:t>
    </dgm:pt>
    <dgm:pt modelId="{FCF47A3D-9596-DC40-B461-99F45B6E045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Performance evaluation</a:t>
          </a:r>
        </a:p>
      </dgm:t>
    </dgm:pt>
    <dgm:pt modelId="{A5AD536F-DF28-DA4A-89C0-0BD6173A4616}" type="parTrans" cxnId="{B0E15D17-BCE2-4342-843C-DDD6EEBBDD06}">
      <dgm:prSet/>
      <dgm:spPr/>
      <dgm:t>
        <a:bodyPr/>
        <a:lstStyle/>
        <a:p>
          <a:endParaRPr lang="en-US"/>
        </a:p>
      </dgm:t>
    </dgm:pt>
    <dgm:pt modelId="{64B5FBE6-B7F2-8E42-9507-5582287E0F20}" type="sibTrans" cxnId="{B0E15D17-BCE2-4342-843C-DDD6EEBBDD06}">
      <dgm:prSet/>
      <dgm:spPr/>
      <dgm:t>
        <a:bodyPr/>
        <a:lstStyle/>
        <a:p>
          <a:endParaRPr lang="en-US"/>
        </a:p>
      </dgm:t>
    </dgm:pt>
    <dgm:pt modelId="{B95DB412-7D0B-DD46-86A4-CD93A21488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Final project demonstration</a:t>
          </a:r>
        </a:p>
      </dgm:t>
    </dgm:pt>
    <dgm:pt modelId="{F59CF8DE-F6BD-C146-AE6D-C7D18E73394A}" type="parTrans" cxnId="{1A9C0B80-A984-1A4F-8674-06F4388D542D}">
      <dgm:prSet/>
      <dgm:spPr/>
      <dgm:t>
        <a:bodyPr/>
        <a:lstStyle/>
        <a:p>
          <a:endParaRPr lang="en-US"/>
        </a:p>
      </dgm:t>
    </dgm:pt>
    <dgm:pt modelId="{EA7AFD7D-2C72-D849-AD6D-568BC500C905}" type="sibTrans" cxnId="{1A9C0B80-A984-1A4F-8674-06F4388D542D}">
      <dgm:prSet/>
      <dgm:spPr/>
      <dgm:t>
        <a:bodyPr/>
        <a:lstStyle/>
        <a:p>
          <a:endParaRPr lang="en-US"/>
        </a:p>
      </dgm:t>
    </dgm:pt>
    <dgm:pt modelId="{251CA94F-8336-3345-9676-9E53A82E56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Report submission</a:t>
          </a:r>
        </a:p>
      </dgm:t>
    </dgm:pt>
    <dgm:pt modelId="{F74911C9-E6B0-CC4A-95FF-F1FD0AEEAC58}" type="parTrans" cxnId="{E0316FCE-B73D-8648-BB94-758286230531}">
      <dgm:prSet/>
      <dgm:spPr/>
      <dgm:t>
        <a:bodyPr/>
        <a:lstStyle/>
        <a:p>
          <a:endParaRPr lang="en-US"/>
        </a:p>
      </dgm:t>
    </dgm:pt>
    <dgm:pt modelId="{1A34F898-CCF1-0A4E-8E42-C9F98CC8A000}" type="sibTrans" cxnId="{E0316FCE-B73D-8648-BB94-758286230531}">
      <dgm:prSet/>
      <dgm:spPr/>
      <dgm:t>
        <a:bodyPr/>
        <a:lstStyle/>
        <a:p>
          <a:endParaRPr lang="en-US"/>
        </a:p>
      </dgm:t>
    </dgm:pt>
    <dgm:pt modelId="{6D5FA886-AB5D-464C-A5D6-051DC22B05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GitHub repository</a:t>
          </a:r>
        </a:p>
      </dgm:t>
    </dgm:pt>
    <dgm:pt modelId="{D9B2ABD3-7B47-8D44-BC61-E9CC787024A8}" type="parTrans" cxnId="{EE376280-4261-8544-900E-1B155E74496D}">
      <dgm:prSet/>
      <dgm:spPr/>
      <dgm:t>
        <a:bodyPr/>
        <a:lstStyle/>
        <a:p>
          <a:endParaRPr lang="en-US"/>
        </a:p>
      </dgm:t>
    </dgm:pt>
    <dgm:pt modelId="{1B093E58-8847-9B4C-9F39-C39A84E88246}" type="sibTrans" cxnId="{EE376280-4261-8544-900E-1B155E74496D}">
      <dgm:prSet/>
      <dgm:spPr/>
      <dgm:t>
        <a:bodyPr/>
        <a:lstStyle/>
        <a:p>
          <a:endParaRPr lang="en-US"/>
        </a:p>
      </dgm:t>
    </dgm:pt>
    <dgm:pt modelId="{177AA88F-2348-0246-A708-B38071BD49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Sustainable Development Goals (SDG) mapping</a:t>
          </a:r>
        </a:p>
      </dgm:t>
    </dgm:pt>
    <dgm:pt modelId="{756A0616-1843-4C43-ADD9-840EBC426D7E}" type="parTrans" cxnId="{DAD1D83A-C4B3-0148-A623-5160AD8C22D6}">
      <dgm:prSet/>
      <dgm:spPr/>
      <dgm:t>
        <a:bodyPr/>
        <a:lstStyle/>
        <a:p>
          <a:endParaRPr lang="en-US"/>
        </a:p>
      </dgm:t>
    </dgm:pt>
    <dgm:pt modelId="{B63BDF46-CB91-4C4C-B6B9-97A6CDAACBD8}" type="sibTrans" cxnId="{DAD1D83A-C4B3-0148-A623-5160AD8C22D6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A55BA812-A3BF-EC4D-9163-D3700049CCF6}" type="presOf" srcId="{3A61AC52-53C6-F845-8B26-385022A5FB46}" destId="{0D08ED52-6744-4369-B780-916B09984775}" srcOrd="1" destOrd="2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4D38F712-4D67-3C4A-9D1D-643BE4D11B67}" type="presOf" srcId="{3A61AC52-53C6-F845-8B26-385022A5FB46}" destId="{2532504F-5FE1-4C97-B485-F05E8885EACC}" srcOrd="0" destOrd="2" presId="urn:microsoft.com/office/officeart/2011/layout/InterconnectedBlockProcess"/>
    <dgm:cxn modelId="{331B7315-7122-BD40-BEE4-D3A8306926AE}" srcId="{988D96B0-D16E-4763-B393-84178CF4FF50}" destId="{FB9E0BC9-6BC6-6B4C-BECE-FD129F201D9A}" srcOrd="2" destOrd="0" parTransId="{9786550D-B082-D443-895D-0B2D90094E78}" sibTransId="{38277091-46E0-7844-A69C-6E8CE92303AB}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65511717-76EC-A34E-8462-78C5EA57F297}" type="presOf" srcId="{251CA94F-8336-3345-9676-9E53A82E5680}" destId="{928B615F-0F8D-4140-A638-0FBB8F5BF1E9}" srcOrd="1" destOrd="1" presId="urn:microsoft.com/office/officeart/2011/layout/InterconnectedBlockProcess"/>
    <dgm:cxn modelId="{B0E15D17-BCE2-4342-843C-DDD6EEBBDD06}" srcId="{5E92505A-51E0-4F78-B3C5-704ACF8710DE}" destId="{FCF47A3D-9596-DC40-B461-99F45B6E0456}" srcOrd="2" destOrd="0" parTransId="{A5AD536F-DF28-DA4A-89C0-0BD6173A4616}" sibTransId="{64B5FBE6-B7F2-8E42-9507-5582287E0F20}"/>
    <dgm:cxn modelId="{AC692F1A-5EBD-1A45-8EC7-9501E2EFB2D8}" type="presOf" srcId="{36B6DCC8-B2AB-6148-87E3-40D3528A2D01}" destId="{06F8D57B-EDF4-4CF4-8700-DC2CA3E3028E}" srcOrd="0" destOrd="3" presId="urn:microsoft.com/office/officeart/2011/layout/InterconnectedBlockProcess"/>
    <dgm:cxn modelId="{21C1B91F-22D3-844D-9F02-0C61FFD273E9}" srcId="{5E92505A-51E0-4F78-B3C5-704ACF8710DE}" destId="{8AF8E256-D216-204E-B2FD-C42D3583DA8D}" srcOrd="0" destOrd="0" parTransId="{C633FBF9-73A6-884F-8BC7-4D044B0C89CB}" sibTransId="{6597BBBE-C453-FF42-BFB9-DB36B11D581A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97FBD822-3AD1-4A44-993D-6527B5EE75EA}" type="presOf" srcId="{6D5FA886-AB5D-464C-A5D6-051DC22B0540}" destId="{928B615F-0F8D-4140-A638-0FBB8F5BF1E9}" srcOrd="1" destOrd="2" presId="urn:microsoft.com/office/officeart/2011/layout/InterconnectedBlockProcess"/>
    <dgm:cxn modelId="{A1D5FC23-707B-6C4A-AA3A-49B3575FFB88}" type="presOf" srcId="{36B6DCC8-B2AB-6148-87E3-40D3528A2D01}" destId="{6BCCFBA6-7A43-4631-AD7F-AFB10E1E6CD7}" srcOrd="1" destOrd="3" presId="urn:microsoft.com/office/officeart/2011/layout/InterconnectedBlockProcess"/>
    <dgm:cxn modelId="{7D57C72D-69CB-1B4E-A010-35B2EA8EBE2F}" type="presOf" srcId="{5E2C240B-3F63-D94E-9C0A-9FF5F20A513A}" destId="{06F8D57B-EDF4-4CF4-8700-DC2CA3E3028E}" srcOrd="0" destOrd="4" presId="urn:microsoft.com/office/officeart/2011/layout/InterconnectedBlockProcess"/>
    <dgm:cxn modelId="{9AE79139-C13B-4944-A9B8-6B1FC2194CE5}" type="presOf" srcId="{8AF8E256-D216-204E-B2FD-C42D3583DA8D}" destId="{FC0F1314-3294-4A8C-8DCE-EB53E236164C}" srcOrd="0" destOrd="0" presId="urn:microsoft.com/office/officeart/2011/layout/InterconnectedBlockProcess"/>
    <dgm:cxn modelId="{DAD1D83A-C4B3-0148-A623-5160AD8C22D6}" srcId="{65C051F6-A849-4495-A964-CD4C650B9C06}" destId="{177AA88F-2348-0246-A708-B38071BD4978}" srcOrd="3" destOrd="0" parTransId="{756A0616-1843-4C43-ADD9-840EBC426D7E}" sibTransId="{B63BDF46-CB91-4C4C-B6B9-97A6CDAACBD8}"/>
    <dgm:cxn modelId="{4C23C83D-C922-664F-A73D-A4BFD30FFF55}" type="presOf" srcId="{B95DB412-7D0B-DD46-86A4-CD93A2148888}" destId="{928B615F-0F8D-4140-A638-0FBB8F5BF1E9}" srcOrd="1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B4208D41-5C1E-3C4B-B1B6-88F4027D169D}" srcId="{7B3055AA-BF7C-46D0-9A9E-60087B9F57B4}" destId="{36B6DCC8-B2AB-6148-87E3-40D3528A2D01}" srcOrd="3" destOrd="0" parTransId="{9E613416-940B-A842-A54E-25948F64BBCD}" sibTransId="{CB628299-8B17-4943-A239-F0E7538F82C0}"/>
    <dgm:cxn modelId="{6B80FC42-92A7-EF41-B73B-2E73B82AC648}" type="presOf" srcId="{251CA94F-8336-3345-9676-9E53A82E5680}" destId="{8CAE5A4D-0C7B-48A6-917B-0B8433D0574B}" srcOrd="0" destOrd="1" presId="urn:microsoft.com/office/officeart/2011/layout/InterconnectedBlockProcess"/>
    <dgm:cxn modelId="{27A3C14A-53E2-0E40-A2C5-6A70261FA65D}" type="presOf" srcId="{177AA88F-2348-0246-A708-B38071BD4978}" destId="{928B615F-0F8D-4140-A638-0FBB8F5BF1E9}" srcOrd="1" destOrd="3" presId="urn:microsoft.com/office/officeart/2011/layout/InterconnectedBlockProcess"/>
    <dgm:cxn modelId="{6466584B-5EEF-0942-A27F-FAF2905B4E97}" srcId="{7B3055AA-BF7C-46D0-9A9E-60087B9F57B4}" destId="{7DC6E324-AD8D-A944-A935-CCDEA98BC95A}" srcOrd="1" destOrd="0" parTransId="{C560FA20-F19D-264B-A90D-C2AF16646049}" sibTransId="{81C8F18F-4289-564E-8F26-3E2BD0CB4B6E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57B16E63-AA5D-0C46-9CFA-361D1D24976B}" type="presOf" srcId="{5E2C240B-3F63-D94E-9C0A-9FF5F20A513A}" destId="{6BCCFBA6-7A43-4631-AD7F-AFB10E1E6CD7}" srcOrd="1" destOrd="4" presId="urn:microsoft.com/office/officeart/2011/layout/InterconnectedBlockProcess"/>
    <dgm:cxn modelId="{3DC72F65-E0F1-1041-8B12-9F725EFF0533}" type="presOf" srcId="{AA0420A7-2D3F-6342-A567-4997DACA5DAD}" destId="{A134CDD1-D85F-44EF-8BEE-9F99A855C1E6}" srcOrd="0" destOrd="3" presId="urn:microsoft.com/office/officeart/2011/layout/InterconnectedBlockProcess"/>
    <dgm:cxn modelId="{1D4E676A-29DB-DC4A-A19E-FF05EDDDAA17}" type="presOf" srcId="{F1A4C139-BB1B-BA45-AE77-790CFCF42278}" destId="{A134CDD1-D85F-44EF-8BEE-9F99A855C1E6}" srcOrd="0" destOrd="1" presId="urn:microsoft.com/office/officeart/2011/layout/InterconnectedBlockProcess"/>
    <dgm:cxn modelId="{AAA8FE6D-063D-6145-901A-5A363F83FDE1}" type="presOf" srcId="{6D5FA886-AB5D-464C-A5D6-051DC22B0540}" destId="{8CAE5A4D-0C7B-48A6-917B-0B8433D0574B}" srcOrd="0" destOrd="2" presId="urn:microsoft.com/office/officeart/2011/layout/InterconnectedBlockProcess"/>
    <dgm:cxn modelId="{B5E2746F-32E0-E94A-B312-D8F036AF9756}" type="presOf" srcId="{F1A4C139-BB1B-BA45-AE77-790CFCF42278}" destId="{1C91D7E3-8940-4A33-9182-677DD5415901}" srcOrd="1" destOrd="1" presId="urn:microsoft.com/office/officeart/2011/layout/InterconnectedBlockProcess"/>
    <dgm:cxn modelId="{7D641977-1689-C84E-A74F-CD38CE89D880}" type="presOf" srcId="{5314F8FE-CAB2-3245-9A80-CD185322457B}" destId="{2532504F-5FE1-4C97-B485-F05E8885EACC}" srcOrd="0" destOrd="1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1A9C0B80-A984-1A4F-8674-06F4388D542D}" srcId="{65C051F6-A849-4495-A964-CD4C650B9C06}" destId="{B95DB412-7D0B-DD46-86A4-CD93A2148888}" srcOrd="0" destOrd="0" parTransId="{F59CF8DE-F6BD-C146-AE6D-C7D18E73394A}" sibTransId="{EA7AFD7D-2C72-D849-AD6D-568BC500C905}"/>
    <dgm:cxn modelId="{EE376280-4261-8544-900E-1B155E74496D}" srcId="{65C051F6-A849-4495-A964-CD4C650B9C06}" destId="{6D5FA886-AB5D-464C-A5D6-051DC22B0540}" srcOrd="2" destOrd="0" parTransId="{D9B2ABD3-7B47-8D44-BC61-E9CC787024A8}" sibTransId="{1B093E58-8847-9B4C-9F39-C39A84E88246}"/>
    <dgm:cxn modelId="{AB145D83-0AD0-2840-A1F5-130787E05F97}" type="presOf" srcId="{FCF47A3D-9596-DC40-B461-99F45B6E0456}" destId="{98225A61-A0EC-450A-BED8-EF2E47E8FD18}" srcOrd="1" destOrd="2" presId="urn:microsoft.com/office/officeart/2011/layout/InterconnectedBlockProcess"/>
    <dgm:cxn modelId="{DD805E88-C1AD-C846-9A03-AF2F6FA2AD13}" srcId="{5E92505A-51E0-4F78-B3C5-704ACF8710DE}" destId="{7CD9C2DF-E506-CE47-81AF-1468ABA0F731}" srcOrd="1" destOrd="0" parTransId="{D2229199-D333-1442-8D98-5259122176D1}" sibTransId="{C74CCCB1-7971-134C-96EF-503D4555F178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53C58D90-BFC2-2149-B2AD-F4958E189181}" type="presOf" srcId="{5314F8FE-CAB2-3245-9A80-CD185322457B}" destId="{0D08ED52-6744-4369-B780-916B09984775}" srcOrd="1" destOrd="1" presId="urn:microsoft.com/office/officeart/2011/layout/InterconnectedBlockProcess"/>
    <dgm:cxn modelId="{D8860893-B462-C646-B9E8-8F6EA2CB3680}" type="presOf" srcId="{177AA88F-2348-0246-A708-B38071BD4978}" destId="{8CAE5A4D-0C7B-48A6-917B-0B8433D0574B}" srcOrd="0" destOrd="3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0FA32A99-A745-7440-A3E4-811F7E5AF99C}" type="presOf" srcId="{13474406-C6F5-3C4C-A049-E2650D606BA8}" destId="{6BCCFBA6-7A43-4631-AD7F-AFB10E1E6CD7}" srcOrd="1" destOrd="2" presId="urn:microsoft.com/office/officeart/2011/layout/InterconnectedBlockProcess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4508DDA9-A664-AD48-BD65-CFC17F77F37F}" type="presOf" srcId="{FB9E0BC9-6BC6-6B4C-BECE-FD129F201D9A}" destId="{A134CDD1-D85F-44EF-8BEE-9F99A855C1E6}" srcOrd="0" destOrd="2" presId="urn:microsoft.com/office/officeart/2011/layout/InterconnectedBlockProcess"/>
    <dgm:cxn modelId="{F3C465AB-FF6E-A346-83CA-65DC29B93219}" srcId="{A59EC69B-8F3F-425B-819F-E8C557946AEE}" destId="{5314F8FE-CAB2-3245-9A80-CD185322457B}" srcOrd="1" destOrd="0" parTransId="{772C95FF-BC66-FB42-98EC-54D70844CFB4}" sibTransId="{D6ACE659-50FD-1F42-BD4A-D25D73203FDE}"/>
    <dgm:cxn modelId="{109D8AAC-1656-AA45-9893-BA7706B2FE26}" type="presOf" srcId="{FCF47A3D-9596-DC40-B461-99F45B6E0456}" destId="{FC0F1314-3294-4A8C-8DCE-EB53E236164C}" srcOrd="0" destOrd="2" presId="urn:microsoft.com/office/officeart/2011/layout/InterconnectedBlockProcess"/>
    <dgm:cxn modelId="{954174AF-BAFF-D341-BD21-1AB6E4FF87C3}" type="presOf" srcId="{7CD9C2DF-E506-CE47-81AF-1468ABA0F731}" destId="{FC0F1314-3294-4A8C-8DCE-EB53E236164C}" srcOrd="0" destOrd="1" presId="urn:microsoft.com/office/officeart/2011/layout/InterconnectedBlockProcess"/>
    <dgm:cxn modelId="{246DECB3-4653-7B42-BE09-938D8CC5A3B8}" type="presOf" srcId="{13474406-C6F5-3C4C-A049-E2650D606BA8}" destId="{06F8D57B-EDF4-4CF4-8700-DC2CA3E3028E}" srcOrd="0" destOrd="2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ADF636BC-8437-7B40-8DBA-28D8CD61D155}" srcId="{A59EC69B-8F3F-425B-819F-E8C557946AEE}" destId="{3A61AC52-53C6-F845-8B26-385022A5FB46}" srcOrd="2" destOrd="0" parTransId="{EED4E55D-3A7D-5B40-BD59-C665B492B239}" sibTransId="{CFC4D8E3-7896-8644-8860-5643ACB31EF1}"/>
    <dgm:cxn modelId="{45B3B5BC-DEFD-3642-A38F-358878BFF58F}" type="presOf" srcId="{8AF8E256-D216-204E-B2FD-C42D3583DA8D}" destId="{98225A61-A0EC-450A-BED8-EF2E47E8FD18}" srcOrd="1" destOrd="0" presId="urn:microsoft.com/office/officeart/2011/layout/InterconnectedBlockProcess"/>
    <dgm:cxn modelId="{6B3B99C6-C3F0-4D4F-8145-7B8AA54F31CE}" type="presOf" srcId="{AA0420A7-2D3F-6342-A567-4997DACA5DAD}" destId="{1C91D7E3-8940-4A33-9182-677DD5415901}" srcOrd="1" destOrd="3" presId="urn:microsoft.com/office/officeart/2011/layout/InterconnectedBlockProcess"/>
    <dgm:cxn modelId="{E0316FCE-B73D-8648-BB94-758286230531}" srcId="{65C051F6-A849-4495-A964-CD4C650B9C06}" destId="{251CA94F-8336-3345-9676-9E53A82E5680}" srcOrd="1" destOrd="0" parTransId="{F74911C9-E6B0-CC4A-95FF-F1FD0AEEAC58}" sibTransId="{1A34F898-CCF1-0A4E-8E42-C9F98CC8A000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A9FADAD4-8DBF-4046-ADFF-E8799ADEF1DB}" type="presOf" srcId="{7DC6E324-AD8D-A944-A935-CCDEA98BC95A}" destId="{6BCCFBA6-7A43-4631-AD7F-AFB10E1E6CD7}" srcOrd="1" destOrd="1" presId="urn:microsoft.com/office/officeart/2011/layout/InterconnectedBlockProcess"/>
    <dgm:cxn modelId="{081275E1-7E77-8542-B66F-5386188AF718}" type="presOf" srcId="{7CD9C2DF-E506-CE47-81AF-1468ABA0F731}" destId="{98225A61-A0EC-450A-BED8-EF2E47E8FD18}" srcOrd="1" destOrd="1" presId="urn:microsoft.com/office/officeart/2011/layout/InterconnectedBlockProcess"/>
    <dgm:cxn modelId="{F7CB01E3-6671-8145-99EB-CC94C6EEBF6B}" srcId="{7B3055AA-BF7C-46D0-9A9E-60087B9F57B4}" destId="{5E2C240B-3F63-D94E-9C0A-9FF5F20A513A}" srcOrd="4" destOrd="0" parTransId="{08D94604-A416-1C47-B534-6875632E5E35}" sibTransId="{0B47A690-4CD8-BB49-B3C9-1DDC2A0EF5BE}"/>
    <dgm:cxn modelId="{0464F5E4-FF85-424A-A0CF-C90A8F9CF3EB}" type="presOf" srcId="{B95DB412-7D0B-DD46-86A4-CD93A2148888}" destId="{8CAE5A4D-0C7B-48A6-917B-0B8433D0574B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0DF55E7-6A2D-934D-B0A3-4414843996A1}" srcId="{988D96B0-D16E-4763-B393-84178CF4FF50}" destId="{F1A4C139-BB1B-BA45-AE77-790CFCF42278}" srcOrd="1" destOrd="0" parTransId="{72F3CFB1-BC3B-FE4E-82CD-702DFFF9887A}" sibTransId="{EA74E6CA-80AB-AF42-9E02-665C8551B3F1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7DD5A7E9-FB51-DC4C-A0DC-9496F007E2A1}" srcId="{988D96B0-D16E-4763-B393-84178CF4FF50}" destId="{AA0420A7-2D3F-6342-A567-4997DACA5DAD}" srcOrd="3" destOrd="0" parTransId="{FDB4F5F9-2BAD-A640-8FB9-46A8F9D8ACC0}" sibTransId="{4726513A-832C-2D41-87BE-A58D51D1DB3C}"/>
    <dgm:cxn modelId="{AB555EEE-CE61-314F-9D2A-611A286710D7}" srcId="{7B3055AA-BF7C-46D0-9A9E-60087B9F57B4}" destId="{13474406-C6F5-3C4C-A049-E2650D606BA8}" srcOrd="2" destOrd="0" parTransId="{CCB0EA3C-0861-2A41-BE17-1FB4D3671A2F}" sibTransId="{DF8BA803-FA95-4C42-A052-EE017C5BF252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83597F6-8852-2E41-8F6D-84AFC085C1D8}" type="presOf" srcId="{7DC6E324-AD8D-A944-A935-CCDEA98BC95A}" destId="{06F8D57B-EDF4-4CF4-8700-DC2CA3E3028E}" srcOrd="0" destOrd="1" presId="urn:microsoft.com/office/officeart/2011/layout/InterconnectedBlockProcess"/>
    <dgm:cxn modelId="{01D128F9-1714-A34F-A612-B148C28FB700}" type="presOf" srcId="{FB9E0BC9-6BC6-6B4C-BECE-FD129F201D9A}" destId="{1C91D7E3-8940-4A33-9182-677DD5415901}" srcOrd="1" destOrd="2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Final project demonstration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Report submission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GitHub repository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Sustainable Development Goals (SDG) mapping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Complete machine learning model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Visualization dashboard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Performance evaluation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3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Data preprocessing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Exploratory Data Analysis (EDA)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Initial machine learning model implementation (50%)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Dataset creation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Literature review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System design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Architecture planning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Feasibility study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5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Company study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Domain understanding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Problem identification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Objective formulation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20/04/26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adQasim/Employee-Performance-Productivity-Analytics/tree/main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Dumpala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Swetha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– Computer Science &amp; Engineering (Data Science)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Nisha Robin Rohit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200" dirty="0"/>
              <a:t>Employee Performance &amp; Productivity Analytics System</a:t>
            </a:r>
            <a:br>
              <a:rPr 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0029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Syed Asad Qasim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20221CSD0074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8CSD-02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dirty="0"/>
              <a:t>Employee-Based Systems is a software and IT services company.</a:t>
            </a:r>
          </a:p>
          <a:p>
            <a:r>
              <a:rPr lang="en-US" dirty="0"/>
              <a:t>The company focuses on developing web-based and enterprise software solutions.</a:t>
            </a:r>
          </a:p>
          <a:p>
            <a:r>
              <a:rPr lang="en-US" dirty="0"/>
              <a:t>It works on modern technologies such as web development, .NET, and software systems.</a:t>
            </a:r>
          </a:p>
          <a:p>
            <a:r>
              <a:rPr lang="en-US" dirty="0"/>
              <a:t>The organization aims to deliver reliable, scalable, and efficient software solutions to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C3004-0BD2-E4CF-1AF9-5E1176BD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8E8B-1EEE-E919-F43C-E79B8AF9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92C14-A458-B03B-EEEF-B9294FBA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Products and Services</a:t>
            </a:r>
          </a:p>
          <a:p>
            <a:r>
              <a:rPr lang="en-US" dirty="0"/>
              <a:t>Web application development</a:t>
            </a:r>
          </a:p>
          <a:p>
            <a:r>
              <a:rPr lang="en-US" dirty="0"/>
              <a:t>Enterprise software solutions</a:t>
            </a:r>
          </a:p>
          <a:p>
            <a:r>
              <a:rPr lang="en-US" dirty="0"/>
              <a:t>Application maintenance and support</a:t>
            </a:r>
          </a:p>
          <a:p>
            <a:r>
              <a:rPr lang="en-US" dirty="0"/>
              <a:t>Customized software solutions based on client requirements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Clients</a:t>
            </a:r>
          </a:p>
          <a:p>
            <a:r>
              <a:rPr lang="en-US" dirty="0"/>
              <a:t>Small and medium-scale businesses</a:t>
            </a:r>
          </a:p>
          <a:p>
            <a:r>
              <a:rPr lang="en-US" dirty="0"/>
              <a:t>Organizations requiring employee-centric and internal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DD965-A6F0-1672-E545-93950446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32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0085-B923-D790-0463-8B637817F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BD09-32BC-02D4-3699-D2B13FBF0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97C77-3772-3A17-95DD-EAFCBEC04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Company Vision and Work Culture</a:t>
            </a:r>
          </a:p>
          <a:p>
            <a:r>
              <a:rPr lang="en-US" dirty="0"/>
              <a:t>Focus on practical problem-solving using technology</a:t>
            </a:r>
          </a:p>
          <a:p>
            <a:r>
              <a:rPr lang="en-US" dirty="0"/>
              <a:t>Emphasis on quality, efficiency, and timely delivery</a:t>
            </a:r>
          </a:p>
          <a:p>
            <a:r>
              <a:rPr lang="en-US" dirty="0"/>
              <a:t>Encourages learning and hands-on experience for interns</a:t>
            </a:r>
          </a:p>
          <a:p>
            <a:r>
              <a:rPr lang="en-US" dirty="0"/>
              <a:t>Supports innovation and continuous improvement in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5D273-7C0B-2F63-9CB4-8F5B6F32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8220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Working Domain: Data Science in Enterprise Software Systems</a:t>
            </a:r>
          </a:p>
          <a:p>
            <a:r>
              <a:rPr lang="en-US" dirty="0"/>
              <a:t>Application of data analytics and machine learning to employee-related systems</a:t>
            </a:r>
          </a:p>
          <a:p>
            <a:r>
              <a:rPr lang="en-US" dirty="0"/>
              <a:t>Use of historical data to generate insights and predictions</a:t>
            </a:r>
          </a:p>
          <a:p>
            <a:r>
              <a:rPr lang="en-US" dirty="0"/>
              <a:t>Integration of analytics into software decision-making processes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Technologies Used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Pandas and NumPy for data processing</a:t>
            </a:r>
          </a:p>
          <a:p>
            <a:r>
              <a:rPr lang="en-US" dirty="0"/>
              <a:t>Matplotlib / Seaborn for visualization</a:t>
            </a:r>
          </a:p>
          <a:p>
            <a:r>
              <a:rPr lang="en-US" dirty="0"/>
              <a:t>Scikit-learn for machine learning models</a:t>
            </a:r>
          </a:p>
          <a:p>
            <a:r>
              <a:rPr lang="en-US" dirty="0"/>
              <a:t>CSV / Excel datasets for analysis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Team Structure</a:t>
            </a:r>
          </a:p>
          <a:p>
            <a:r>
              <a:rPr lang="en-US" dirty="0"/>
              <a:t>Intern (Data Science) – Individual Internship</a:t>
            </a:r>
          </a:p>
          <a:p>
            <a:r>
              <a:rPr lang="en-US" dirty="0"/>
              <a:t>Guided by company mentor and college supervisor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Reporting Manager</a:t>
            </a:r>
          </a:p>
          <a:p>
            <a:r>
              <a:rPr lang="en-US" dirty="0"/>
              <a:t>Reporting directly to the company mentor</a:t>
            </a:r>
          </a:p>
          <a:p>
            <a:r>
              <a:rPr lang="en-US" dirty="0"/>
              <a:t>Regular updates and reviews on project progress</a:t>
            </a:r>
          </a:p>
          <a:p>
            <a:r>
              <a:rPr lang="en-US" dirty="0"/>
              <a:t>Guidance provided on understanding company workflow and expectations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Understanding real-world company workflows</a:t>
            </a:r>
          </a:p>
          <a:p>
            <a:r>
              <a:rPr lang="en-US" dirty="0"/>
              <a:t>Mapping data science concepts to a software-based company</a:t>
            </a:r>
          </a:p>
          <a:p>
            <a:r>
              <a:rPr lang="en-US" dirty="0"/>
              <a:t>Designing a project that aligns with both company goals and academic requirements</a:t>
            </a:r>
          </a:p>
          <a:p>
            <a:r>
              <a:rPr lang="en-US" dirty="0"/>
              <a:t>Structuring realistic datasets for analysis</a:t>
            </a:r>
          </a:p>
          <a:p>
            <a:r>
              <a:rPr lang="en-US" dirty="0"/>
              <a:t>Balancing internship work with academic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Primary Objectives</a:t>
            </a:r>
          </a:p>
          <a:p>
            <a:r>
              <a:rPr lang="en-US" dirty="0"/>
              <a:t>To analyze employee task and productivity data</a:t>
            </a:r>
          </a:p>
          <a:p>
            <a:r>
              <a:rPr lang="en-US" dirty="0"/>
              <a:t>To generate performance metrics using data analytics</a:t>
            </a:r>
          </a:p>
          <a:p>
            <a:r>
              <a:rPr lang="en-US" dirty="0"/>
              <a:t>To identify productivity trends and bottlenecks</a:t>
            </a:r>
          </a:p>
          <a:p>
            <a:r>
              <a:rPr lang="en-US" dirty="0"/>
              <a:t>To build a simple machine learning model to predict performance levels</a:t>
            </a:r>
          </a:p>
          <a:p>
            <a:r>
              <a:rPr lang="en-US" dirty="0"/>
              <a:t>To present insights using visualizations for decision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Existing studies highlight the importance of data-driven employee performance analysis.</a:t>
            </a:r>
          </a:p>
          <a:p>
            <a:r>
              <a:rPr lang="en-US" dirty="0"/>
              <a:t>Research shows that analytics improves productivity evaluation accuracy.</a:t>
            </a:r>
          </a:p>
          <a:p>
            <a:r>
              <a:rPr lang="en-US" dirty="0"/>
              <a:t>Machine learning models are commonly used for prediction and trend analysis.</a:t>
            </a:r>
          </a:p>
          <a:p>
            <a:r>
              <a:rPr lang="en-US" dirty="0"/>
              <a:t>Many systems lack integration of analytics with enterprise software.</a:t>
            </a:r>
          </a:p>
          <a:p>
            <a:r>
              <a:rPr lang="en-US" dirty="0"/>
              <a:t>This project focuses on bridging that gap using a simple analytics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The proposed system uses data analytics and machine learning.</a:t>
            </a:r>
          </a:p>
          <a:p>
            <a:r>
              <a:rPr lang="en-US" dirty="0"/>
              <a:t>Employee task data is collected in CSV/Excel format.</a:t>
            </a:r>
          </a:p>
          <a:p>
            <a:r>
              <a:rPr lang="en-US" dirty="0"/>
              <a:t>Data is cleaned and analyzed to extract insights.</a:t>
            </a:r>
          </a:p>
          <a:p>
            <a:r>
              <a:rPr lang="en-US" dirty="0"/>
              <a:t>Machine learning is used to predict employee performance levels.</a:t>
            </a:r>
          </a:p>
          <a:p>
            <a:r>
              <a:rPr lang="en-US" dirty="0"/>
              <a:t>Visualizations are generated for easy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Organizations collect employee data but face challenges such as:</a:t>
            </a:r>
          </a:p>
          <a:p>
            <a:r>
              <a:rPr lang="en-US" dirty="0"/>
              <a:t>Manual performance evaluation</a:t>
            </a:r>
          </a:p>
          <a:p>
            <a:r>
              <a:rPr lang="en-US" dirty="0"/>
              <a:t>Lack of automated analytics</a:t>
            </a:r>
          </a:p>
          <a:p>
            <a:r>
              <a:rPr lang="en-US" dirty="0"/>
              <a:t>No predictive insights</a:t>
            </a:r>
          </a:p>
          <a:p>
            <a:r>
              <a:rPr lang="en-US" dirty="0"/>
              <a:t>Difficulty in identifying performance bottlenecks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Hence, there is a need for a data-driven employee performance analytics system.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Software Requirements:</a:t>
            </a:r>
          </a:p>
          <a:p>
            <a:r>
              <a:rPr lang="en-US" dirty="0"/>
              <a:t>Python</a:t>
            </a:r>
          </a:p>
          <a:p>
            <a:r>
              <a:rPr lang="en-US" dirty="0" err="1"/>
              <a:t>Jupyter</a:t>
            </a:r>
            <a:r>
              <a:rPr lang="en-US" dirty="0"/>
              <a:t> Notebook / VS Code</a:t>
            </a:r>
          </a:p>
          <a:p>
            <a:r>
              <a:rPr lang="en-US" dirty="0"/>
              <a:t>Pandas, NumPy, Matplotlib, Scikit-learn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Hardware Requirements:</a:t>
            </a:r>
          </a:p>
          <a:p>
            <a:r>
              <a:rPr lang="en-US" dirty="0"/>
              <a:t>Standard computer or laptop</a:t>
            </a:r>
          </a:p>
          <a:p>
            <a:r>
              <a:rPr lang="en-US" dirty="0"/>
              <a:t>Minimum 8 GB RAM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Automated performance analysis</a:t>
            </a:r>
          </a:p>
          <a:p>
            <a:r>
              <a:rPr lang="en-US" dirty="0"/>
              <a:t>Reduced manual effort</a:t>
            </a:r>
          </a:p>
          <a:p>
            <a:r>
              <a:rPr lang="en-US" dirty="0"/>
              <a:t>Improved accuracy in evaluation</a:t>
            </a:r>
          </a:p>
          <a:p>
            <a:r>
              <a:rPr lang="en-US" dirty="0"/>
              <a:t>Predictive insights for decision-making</a:t>
            </a:r>
          </a:p>
          <a:p>
            <a:r>
              <a:rPr lang="en-US" dirty="0"/>
              <a:t>Scalable and cost-effective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5BB62-A192-A34A-8794-363A97049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30C1-8A85-5CE9-5CEF-4F570BD4F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B1DF-3C07-28EC-AF46-9936DB6E9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The Employee Performance &amp; Productivity Analytics System follows a modular data analytics architecture with the following components:</a:t>
            </a:r>
            <a:endParaRPr lang="en-US" sz="2000" dirty="0"/>
          </a:p>
          <a:p>
            <a:r>
              <a:rPr lang="en-US" sz="2000" b="1" dirty="0"/>
              <a:t>Data Collection</a:t>
            </a:r>
            <a:r>
              <a:rPr lang="en-US" sz="2000" dirty="0"/>
              <a:t>: Employee data collected from CSV/Excel files including working hours, tasks, attendance, and performance metrics.</a:t>
            </a:r>
          </a:p>
          <a:p>
            <a:r>
              <a:rPr lang="en-US" sz="2000" b="1" dirty="0"/>
              <a:t>Data Processing</a:t>
            </a:r>
            <a:r>
              <a:rPr lang="en-US" sz="2000" dirty="0"/>
              <a:t>: Data cleaning, preprocessing, and feature selection using Python (Pandas, NumPy).</a:t>
            </a:r>
          </a:p>
          <a:p>
            <a:r>
              <a:rPr lang="en-US" sz="2000" b="1" dirty="0"/>
              <a:t>Analytics &amp; Machine Learning</a:t>
            </a:r>
            <a:r>
              <a:rPr lang="en-US" sz="2000" dirty="0"/>
              <a:t>: EDA and Scikit-learn model used to analyze trends and predict employee performance.</a:t>
            </a:r>
          </a:p>
          <a:p>
            <a:r>
              <a:rPr lang="en-US" sz="2000" b="1" dirty="0"/>
              <a:t>Visualization</a:t>
            </a:r>
            <a:r>
              <a:rPr lang="en-US" sz="2000" dirty="0"/>
              <a:t>: Dashboards created using Matplotlib/Seaborn for performance comparison and insights.</a:t>
            </a:r>
          </a:p>
          <a:p>
            <a:r>
              <a:rPr lang="en-US" sz="2000" b="1" dirty="0"/>
              <a:t>Output</a:t>
            </a:r>
            <a:r>
              <a:rPr lang="en-US" sz="2000" dirty="0"/>
              <a:t>: Reports, predictions, and decision-support insights for organizations.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3F7C8-8E2F-FE25-A6B0-3360BFAE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787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7158-00A0-6E59-4E5C-EAB8498B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0734-D383-83CD-6C1C-E927582F6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9527-F44C-EB40-299A-B7BD82433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system follows a modular architecture consisting of data collection, preprocessing, analytics, and visualization layers. Employee data is collected from CSV/Excel files and processed using Python (Pandas, NumPy). Exploratory Data Analysis and a Scikit-learn machine learning model are used to analyze trends and predict performance. Dashboards are generated using visualization libraries for decision support.</a:t>
            </a:r>
          </a:p>
          <a:p>
            <a:pPr marL="0" indent="0">
              <a:buNone/>
            </a:pPr>
            <a:r>
              <a:rPr lang="en-US" sz="2400" b="1" dirty="0"/>
              <a:t>Implementation Progress:</a:t>
            </a:r>
          </a:p>
          <a:p>
            <a:r>
              <a:rPr lang="en-US" sz="2400" dirty="0"/>
              <a:t>Dataset creation and preprocessing completed</a:t>
            </a:r>
          </a:p>
          <a:p>
            <a:r>
              <a:rPr lang="en-US" sz="2400" dirty="0"/>
              <a:t>Exploratory Data Analysis performed</a:t>
            </a:r>
          </a:p>
          <a:p>
            <a:r>
              <a:rPr lang="en-US" sz="2400" dirty="0"/>
              <a:t>Initial ML model implemented (~50%)</a:t>
            </a:r>
          </a:p>
          <a:p>
            <a:r>
              <a:rPr lang="en-US" sz="2400" dirty="0"/>
              <a:t>Basic dashboards developed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7A809-DD54-A7ED-5849-CB833E2E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2762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DB079-5500-EC51-6997-5925147E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481EC-085A-272B-777F-5D96B3140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(continuation)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FFD84-ED74-EF00-BF66-4880A97DC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Current Implementation Features:</a:t>
            </a:r>
          </a:p>
          <a:p>
            <a:r>
              <a:rPr lang="en-US" sz="2400" dirty="0"/>
              <a:t>Employee productivity score calculation</a:t>
            </a:r>
          </a:p>
          <a:p>
            <a:r>
              <a:rPr lang="en-US" sz="2400" dirty="0"/>
              <a:t>Department-wise performance comparison</a:t>
            </a:r>
          </a:p>
          <a:p>
            <a:r>
              <a:rPr lang="en-US" sz="2400" dirty="0"/>
              <a:t>Task completion trend analysis</a:t>
            </a:r>
          </a:p>
          <a:p>
            <a:r>
              <a:rPr lang="en-US" sz="2400" dirty="0"/>
              <a:t>Initial performance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645A0-FAEB-95DE-064D-E817413AE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947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263976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https://github.com/AsadQasim/Employee-Performance-Productivity-Analytics/tree/main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7607</TotalTime>
  <Words>1012</Words>
  <Application>Microsoft Macintosh PowerPoint</Application>
  <PresentationFormat>Widescreen</PresentationFormat>
  <Paragraphs>187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Implementation (continuation)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SYED ASAD QASIM</cp:lastModifiedBy>
  <cp:revision>726</cp:revision>
  <dcterms:created xsi:type="dcterms:W3CDTF">2022-10-14T07:18:17Z</dcterms:created>
  <dcterms:modified xsi:type="dcterms:W3CDTF">2026-04-20T08:35:01Z</dcterms:modified>
</cp:coreProperties>
</file>